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931920"/>
            <a:ext cx="4389120" cy="4389120"/>
          </a:xfrm>
          <a:prstGeom prst="ellipse">
            <a:avLst/>
          </a:prstGeom>
          <a:solidFill>
            <a:srgbClr val="0098BB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-548640"/>
            <a:ext cx="2743200" cy="2743200"/>
          </a:xfrm>
          <a:prstGeom prst="ellipse">
            <a:avLst/>
          </a:prstGeom>
          <a:solidFill>
            <a:srgbClr val="00B8D9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164592" cy="164592"/>
          </a:xfrm>
          <a:prstGeom prst="ellipse">
            <a:avLst/>
          </a:prstGeom>
          <a:solidFill>
            <a:srgbClr val="F0A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20240"/>
            <a:ext cx="109728" cy="109728"/>
          </a:xfrm>
          <a:prstGeom prst="ellipse">
            <a:avLst/>
          </a:prstGeom>
          <a:solidFill>
            <a:srgbClr val="F0A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9424"/>
            <a:ext cx="91440" cy="91440"/>
          </a:xfrm>
          <a:prstGeom prst="ellipse">
            <a:avLst/>
          </a:prstGeom>
          <a:solidFill>
            <a:srgbClr val="F0A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201168" cy="201168"/>
          </a:xfrm>
          <a:prstGeom prst="ellipse">
            <a:avLst/>
          </a:prstGeom>
          <a:solidFill>
            <a:srgbClr val="F0A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182880" cy="6858000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474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84048" y="841248"/>
            <a:ext cx="164592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5440680"/>
            <a:ext cx="1645920" cy="36576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5532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BUSINESS PROPOSAL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5897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{{DATE}}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4920" y="438912"/>
            <a:ext cx="6656832" cy="36576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530352"/>
            <a:ext cx="6656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{{CLIENT_NAME}} 御中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1188720"/>
            <a:ext cx="66568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{{PROPOSAL_TITLE}}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074920" y="3493008"/>
            <a:ext cx="2926080" cy="7315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675888"/>
            <a:ext cx="66568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4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{{PROPOSAL_SUBTITLE}}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5897880"/>
            <a:ext cx="7616952" cy="960120"/>
          </a:xfrm>
          <a:prstGeom prst="rect">
            <a:avLst/>
          </a:prstGeom>
          <a:solidFill>
            <a:srgbClr val="E0F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5897880"/>
            <a:ext cx="7616952" cy="45720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5989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提案者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74920" y="6263640"/>
            <a:ext cx="6656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{{YOUR_COMPANY}}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B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AGENDA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20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183112" y="6620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/ 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550011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35608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325880" y="1417320"/>
            <a:ext cx="36576" cy="71323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399032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現状と課題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1801368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お客様が直面している経営課題の整理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1636" y="1234440"/>
            <a:ext cx="550011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8796" y="1435608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100316" y="1417320"/>
            <a:ext cx="36576" cy="71323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7476" y="1399032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ご提案の概要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37476" y="1801368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解決アプローチと期待できるビジネス成果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542032"/>
            <a:ext cx="550011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43200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325880" y="2724912"/>
            <a:ext cx="36576" cy="71323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706624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ソリューション詳細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108960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主要機能と業務変革効果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1636" y="2542032"/>
            <a:ext cx="550011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8796" y="2743200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7100316" y="2724912"/>
            <a:ext cx="36576" cy="71323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7476" y="2706624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導入効果・KPI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37476" y="3108960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定量的な成果指標と試算根拠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49624"/>
            <a:ext cx="550011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50792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325880" y="4032504"/>
            <a:ext cx="36576" cy="71323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4014216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導入ステップ・スケジュール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63040" y="4416552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実行計画とマイルストーン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1636" y="3849624"/>
            <a:ext cx="550011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4050792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7100316" y="4032504"/>
            <a:ext cx="36576" cy="71323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37476" y="4014216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お見積り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37476" y="4416552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投資内訳と価格の妥当性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157216"/>
            <a:ext cx="550011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358384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</a:t>
            </a:r>
            <a:endParaRPr lang="en-US" sz="2600" dirty="0"/>
          </a:p>
        </p:txBody>
      </p:sp>
      <p:sp>
        <p:nvSpPr>
          <p:cNvPr id="41" name="Shape 39"/>
          <p:cNvSpPr/>
          <p:nvPr/>
        </p:nvSpPr>
        <p:spPr>
          <a:xfrm>
            <a:off x="1325880" y="5340096"/>
            <a:ext cx="36576" cy="71323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63040" y="5321808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463040" y="5724144"/>
            <a:ext cx="4357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合意事項と意思決定フロー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B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   現状と課題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20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183112" y="6620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/ 9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16128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4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{{CLIENT_NAME}}様が抱える3つの重要課題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3666744" cy="466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00200"/>
            <a:ext cx="3666744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92808"/>
            <a:ext cx="3392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 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313432"/>
            <a:ext cx="33924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{{CHALLENGE_1}}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6824" y="1600200"/>
            <a:ext cx="3666744" cy="466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1600200"/>
            <a:ext cx="3666744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1892808"/>
            <a:ext cx="3392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 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43984" y="2313432"/>
            <a:ext cx="33924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{{CHALLENGE_2}}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6448" y="1600200"/>
            <a:ext cx="3666744" cy="4663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1600200"/>
            <a:ext cx="3666744" cy="201168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892808"/>
            <a:ext cx="3392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 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3608" y="2313432"/>
            <a:ext cx="339242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{{CHALLENGE_3}}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B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   ご提案の概要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20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183112" y="6620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/ 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74552" cy="1325880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37160" cy="1325880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261872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{{PROPOSAL_SUMMARY}}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選ばれる 3 つの理由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66674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3273552"/>
            <a:ext cx="694944" cy="694944"/>
          </a:xfrm>
          <a:prstGeom prst="ellipse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3100" y="327355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3483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A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差別化ポイント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4434840"/>
            <a:ext cx="34472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{{KEY_POINT_1}}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6824" y="3108960"/>
            <a:ext cx="366674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92724" y="3273552"/>
            <a:ext cx="694944" cy="69494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2724" y="327355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98264" y="4069080"/>
            <a:ext cx="3483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定量効果・ROI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16552" y="4434840"/>
            <a:ext cx="34472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{{KEY_POINT_2}}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6448" y="3108960"/>
            <a:ext cx="366674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42348" y="3273552"/>
            <a:ext cx="694944" cy="694944"/>
          </a:xfrm>
          <a:prstGeom prst="ellipse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2348" y="327355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47888" y="4069080"/>
            <a:ext cx="3483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リスク低減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66176" y="4434840"/>
            <a:ext cx="34472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{{KEY_POINT_3}}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B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   ソリューション詳細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20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183112" y="6620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/ 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500116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438912" cy="2194560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4389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325880"/>
            <a:ext cx="48143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{{FEATURE_1}}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1636" y="1188720"/>
            <a:ext cx="5500116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1636" y="1188720"/>
            <a:ext cx="438912" cy="2194560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1636" y="1188720"/>
            <a:ext cx="4389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80276" y="1325880"/>
            <a:ext cx="48143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{{FEATURE_2}}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500116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66160"/>
            <a:ext cx="438912" cy="2194560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66160"/>
            <a:ext cx="4389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703320"/>
            <a:ext cx="48143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{{FEATURE_3}}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31636" y="3566160"/>
            <a:ext cx="5500116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8E8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1636" y="3566160"/>
            <a:ext cx="438912" cy="2194560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1636" y="3566160"/>
            <a:ext cx="4389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80276" y="3703320"/>
            <a:ext cx="48143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{{FEATURE_4}}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F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98B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F8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   導入効果・期待 KPI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620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83112" y="6620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 / 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666744" cy="5029200"/>
          </a:xfrm>
          <a:prstGeom prst="rect">
            <a:avLst/>
          </a:prstGeom>
          <a:solidFill>
            <a:srgbClr val="FFFFFF">
              <a:alpha val="10000"/>
            </a:srgbClr>
          </a:solidFill>
          <a:ln w="22860">
            <a:solidFill>
              <a:srgbClr val="F0A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34440"/>
            <a:ext cx="3666744" cy="164592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490472"/>
            <a:ext cx="3447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{{KPI_LABEL_1}}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148840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0A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{{KPI_VALUE_1}}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530352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A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{{KPI_UNIT_1}}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17214" y="4453128"/>
            <a:ext cx="2346716" cy="36576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599432"/>
            <a:ext cx="34472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CDD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{{KPI_NOTE_1}}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06824" y="1234440"/>
            <a:ext cx="3666744" cy="5029200"/>
          </a:xfrm>
          <a:prstGeom prst="rect">
            <a:avLst/>
          </a:prstGeom>
          <a:solidFill>
            <a:srgbClr val="FFFFFF">
              <a:alpha val="10000"/>
            </a:srgbClr>
          </a:solidFill>
          <a:ln w="22860">
            <a:solidFill>
              <a:srgbClr val="00B8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1234440"/>
            <a:ext cx="3666744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1490472"/>
            <a:ext cx="3447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{{KPI_LABEL_2}}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79976" y="2148840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00B8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{{KPI_VALUE_2}}</a:t>
            </a:r>
            <a:endParaRPr lang="en-US" sz="7000" dirty="0"/>
          </a:p>
        </p:txBody>
      </p:sp>
      <p:sp>
        <p:nvSpPr>
          <p:cNvPr id="21" name="Text 19"/>
          <p:cNvSpPr/>
          <p:nvPr/>
        </p:nvSpPr>
        <p:spPr>
          <a:xfrm>
            <a:off x="4379976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8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{{KPI_UNIT_2}}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966838" y="4453128"/>
            <a:ext cx="2346716" cy="36576"/>
          </a:xfrm>
          <a:prstGeom prst="rect">
            <a:avLst/>
          </a:prstGeom>
          <a:solidFill>
            <a:srgbClr val="00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4599432"/>
            <a:ext cx="34472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CDD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{{KPI_NOTE_2}}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56448" y="1234440"/>
            <a:ext cx="3666744" cy="5029200"/>
          </a:xfrm>
          <a:prstGeom prst="rect">
            <a:avLst/>
          </a:prstGeom>
          <a:solidFill>
            <a:srgbClr val="FFFFFF">
              <a:alpha val="10000"/>
            </a:srgbClr>
          </a:solidFill>
          <a:ln w="22860">
            <a:solidFill>
              <a:srgbClr val="6FCF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1234440"/>
            <a:ext cx="3666744" cy="164592"/>
          </a:xfrm>
          <a:prstGeom prst="rect">
            <a:avLst/>
          </a:prstGeom>
          <a:solidFill>
            <a:srgbClr val="6FCF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1490472"/>
            <a:ext cx="3447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{{KPI_LABEL_3}}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2148840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6FCF9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{{KPI_VALUE_3}}</a:t>
            </a:r>
            <a:endParaRPr lang="en-US" sz="7000" dirty="0"/>
          </a:p>
        </p:txBody>
      </p:sp>
      <p:sp>
        <p:nvSpPr>
          <p:cNvPr id="28" name="Text 26"/>
          <p:cNvSpPr/>
          <p:nvPr/>
        </p:nvSpPr>
        <p:spPr>
          <a:xfrm>
            <a:off x="8229600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CF9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{{KPI_UNIT_3}}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816462" y="4453128"/>
            <a:ext cx="2346716" cy="36576"/>
          </a:xfrm>
          <a:prstGeom prst="rect">
            <a:avLst/>
          </a:prstGeom>
          <a:solidFill>
            <a:srgbClr val="6FCF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4599432"/>
            <a:ext cx="34472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0CDD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{{KPI_NOTE_3}}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B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   導入ステップ・スケジュール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20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183112" y="6620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 / 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234440" y="2450592"/>
            <a:ext cx="9720072" cy="64008"/>
          </a:xfrm>
          <a:prstGeom prst="rect">
            <a:avLst/>
          </a:prstGeom>
          <a:solidFill>
            <a:srgbClr val="D8E8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07008"/>
            <a:ext cx="2727198" cy="402336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07008"/>
            <a:ext cx="272719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{{STEP_1_PERIOD}}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56207" y="2148840"/>
            <a:ext cx="694944" cy="6949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98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56207" y="21488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2727198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98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044952"/>
            <a:ext cx="258089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{{STEP_1_TITLE}}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3767328"/>
            <a:ext cx="258089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4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{{STEP_1_DESC}}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86150" y="1207008"/>
            <a:ext cx="2727198" cy="402336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6150" y="1207008"/>
            <a:ext cx="272719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{{STEP_2_PERIOD}}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02277" y="2148840"/>
            <a:ext cx="694944" cy="6949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98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2277" y="21488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486150" y="3017520"/>
            <a:ext cx="2727198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98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9302" y="3044952"/>
            <a:ext cx="258089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{{STEP_2_TITLE}}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59302" y="3767328"/>
            <a:ext cx="258089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4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{{STEP_2_DESC}}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32220" y="1207008"/>
            <a:ext cx="2727198" cy="402336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2220" y="1207008"/>
            <a:ext cx="272719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{{STEP_3_PERIOD}}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48347" y="2148840"/>
            <a:ext cx="694944" cy="6949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98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8347" y="21488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332220" y="3017520"/>
            <a:ext cx="2727198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98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5372" y="3044952"/>
            <a:ext cx="258089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{{STEP_3_TITLE}}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5372" y="3767328"/>
            <a:ext cx="258089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4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{{STEP_3_DESC}}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78290" y="1207008"/>
            <a:ext cx="2727198" cy="402336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8290" y="1207008"/>
            <a:ext cx="272719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{{STEP_4_PERIOD}}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194417" y="2148840"/>
            <a:ext cx="694944" cy="6949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98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94417" y="21488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98B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178290" y="3017520"/>
            <a:ext cx="2727198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98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51442" y="3044952"/>
            <a:ext cx="258089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{{STEP_4_TITLE}}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251442" y="3767328"/>
            <a:ext cx="258089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C4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{{STEP_4_DESC}}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B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   お見積り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20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183112" y="6620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/ 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11274552" cy="475488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3444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費用項目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0" y="1234440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123444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0" y="12344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単価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52560" y="123444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682496"/>
            <a:ext cx="11274552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728216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{{ITEM_1}}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63824" y="1728216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{{DESC_1}}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5664" y="1728216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{{QTY_1}}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78624" y="172821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{{PRICE_1}}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07424" y="1728216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{{TOTAL_1}}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340864"/>
            <a:ext cx="11274552" cy="640080"/>
          </a:xfrm>
          <a:prstGeom prst="rect">
            <a:avLst/>
          </a:prstGeom>
          <a:solidFill>
            <a:srgbClr val="E0F4FA"/>
          </a:solidFill>
          <a:ln w="10160">
            <a:solidFill>
              <a:srgbClr val="D8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386584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{{ITEM_2}}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63824" y="2386584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{{DESC_2}}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55664" y="2386584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{{QTY_2}}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78624" y="2386584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{{PRICE_2}}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7424" y="238658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{{TOTAL_2}}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99232"/>
            <a:ext cx="11274552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044952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{{ITEM_3}}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63824" y="304495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{{DESC_3}}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55664" y="3044952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{{QTY_3}}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78624" y="304495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{{PRICE_3}}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07424" y="304495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{{TOTAL_3}}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11274552" cy="640080"/>
          </a:xfrm>
          <a:prstGeom prst="rect">
            <a:avLst/>
          </a:prstGeom>
          <a:solidFill>
            <a:srgbClr val="E0F4FA"/>
          </a:solidFill>
          <a:ln w="10160">
            <a:solidFill>
              <a:srgbClr val="D8E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70332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{{ITEM_4}}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163824" y="370332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{{DESC_4}}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55664" y="370332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{{QTY_4}}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78624" y="37033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{{PRICE_4}}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07424" y="37033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{{TOTAL_4}}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315968"/>
            <a:ext cx="11274552" cy="566928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370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合計（税抜）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714232" y="43708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0A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{{GRAND_TOTAL}}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" y="4974336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9B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{{PRICING_NOTE}}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B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F0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   次のアクション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6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202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Novagrid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183112" y="66202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 / 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103120" cy="1234440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61848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{{ACTION_1_DATE}}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97480" y="1234440"/>
            <a:ext cx="9034272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8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6352" y="1627632"/>
            <a:ext cx="475488" cy="475488"/>
          </a:xfrm>
          <a:prstGeom prst="ellipse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1627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3401568" y="1325880"/>
            <a:ext cx="8302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{{ACTION_1}}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103120" cy="1234440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0815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{{ACTION_2_DATE}}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97480" y="2697480"/>
            <a:ext cx="9034272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8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16352" y="3090672"/>
            <a:ext cx="475488" cy="475488"/>
          </a:xfrm>
          <a:prstGeom prst="ellipse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30906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3401568" y="2788920"/>
            <a:ext cx="8302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{{ACTION_2}}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2103120" cy="1234440"/>
          </a:xfrm>
          <a:prstGeom prst="rect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51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DD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54456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{{ACTION_3_DATE}}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697480" y="4160520"/>
            <a:ext cx="9034272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8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16352" y="4553712"/>
            <a:ext cx="475488" cy="475488"/>
          </a:xfrm>
          <a:prstGeom prst="ellipse">
            <a:avLst/>
          </a:prstGeom>
          <a:solidFill>
            <a:srgbClr val="0098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45537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36" dirty="0"/>
          </a:p>
        </p:txBody>
      </p:sp>
      <p:sp>
        <p:nvSpPr>
          <p:cNvPr id="29" name="Text 27"/>
          <p:cNvSpPr/>
          <p:nvPr/>
        </p:nvSpPr>
        <p:spPr>
          <a:xfrm>
            <a:off x="3401568" y="4251960"/>
            <a:ext cx="83027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{{ACTION_3}}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" y="5669280"/>
            <a:ext cx="11274552" cy="621792"/>
          </a:xfrm>
          <a:prstGeom prst="rect">
            <a:avLst/>
          </a:prstGeom>
          <a:solidFill>
            <a:srgbClr val="E0F4FA"/>
          </a:solidFill>
          <a:ln w="12700">
            <a:solidFill>
              <a:srgbClr val="0098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705856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6F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ご質問・ご不明点は担当 {{YOUR_COMPANY}} までお気軽にお申し付けください。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Novagrid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Novagrid</dc:creator>
  <cp:lastModifiedBy>Novagrid</cp:lastModifiedBy>
  <cp:revision>1</cp:revision>
  <dcterms:created xsi:type="dcterms:W3CDTF">2026-05-29T04:12:12Z</dcterms:created>
  <dcterms:modified xsi:type="dcterms:W3CDTF">2026-05-29T04:12:12Z</dcterms:modified>
</cp:coreProperties>
</file>