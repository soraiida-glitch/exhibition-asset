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8FA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0" name="Shape 8"/>
          <p:cNvSpPr/>
          <p:nvPr/>
        </p:nvSpPr>
        <p:spPr>
          <a:xfrm>
            <a:off x="4389120" y="0"/>
            <a:ext cx="182880" cy="6858000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pic>
        <p:nvPicPr>
          <p:cNvPr id="11" name="Logo Icon"/>
          <p:cNvPicPr/>
          <p:nvPr/>
        </p:nvPicPr>
        <p:blipFill>
          <a:blip r:embed="rId3"/>
          <a:stretch>
            <a:fillRect/>
          </a:stretch>
        </p:blipFill>
        <p:spPr>
          <a:xfrm>
            <a:off x="384048" y="347472"/>
            <a:ext cx="950000" cy="587000"/>
          </a:xfrm>
          <a:prstGeom prst="rect">
            <a:avLst/>
          </a:prstGeom>
        </p:spPr>
      </p:pic>
      <p:pic>
        <p:nvPicPr>
          <p:cNvPr id="25" name="Logo Wordmark"/>
          <p:cNvPicPr/>
          <p:nvPr/>
        </p:nvPicPr>
        <p:blipFill>
          <a:blip r:embed="rId4"/>
          <a:stretch>
            <a:fillRect/>
          </a:stretch>
        </p:blipFill>
        <p:spPr>
          <a:xfrm>
            <a:off x="384048" y="994472"/>
            <a:ext cx="820000" cy="76000"/>
          </a:xfrm>
          <a:prstGeom prst="rect">
            <a:avLst/>
          </a:prstGeom>
        </p:spPr>
      </p:pic>
      <p:sp>
        <p:nvSpPr>
          <p:cNvPr id="12" name="Shape 10"/>
          <p:cNvSpPr/>
          <p:nvPr/>
        </p:nvSpPr>
        <p:spPr>
          <a:xfrm>
            <a:off x="384048" y="1188720"/>
            <a:ext cx="1645920" cy="45720"/>
          </a:xfrm>
          <a:prstGeom prst="rect">
            <a:avLst/>
          </a:prstGeom>
          <a:solidFill>
            <a:srgbClr val="FFFFFF">
              <a:alpha val="45000"/>
            </a:srgbClr>
          </a:solidFill>
          <a:ln>
            <a:noFill/>
          </a:ln>
        </p:spPr>
      </p:sp>
      <p:sp>
        <p:nvSpPr>
          <p:cNvPr id="13" name="Shape 11"/>
          <p:cNvSpPr/>
          <p:nvPr/>
        </p:nvSpPr>
        <p:spPr>
          <a:xfrm>
            <a:off x="384048" y="5440680"/>
            <a:ext cx="1645920" cy="36576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4" name="Text 12"/>
          <p:cNvSpPr/>
          <p:nvPr/>
        </p:nvSpPr>
        <p:spPr>
          <a:xfrm>
            <a:off x="384048" y="553212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BUSINESS PROPOSAL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84048" y="589788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{{DATE}}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74920" y="438912"/>
            <a:ext cx="6656832" cy="36576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5074920" y="530352"/>
            <a:ext cx="6656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6F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{{CLIENT_NAME}} 御中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74920" y="1188720"/>
            <a:ext cx="6656832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3000" b="1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{{PROPOSAL_TITLE}}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5074920" y="3493008"/>
            <a:ext cx="2926080" cy="73152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20" name="Text 18"/>
          <p:cNvSpPr/>
          <p:nvPr/>
        </p:nvSpPr>
        <p:spPr>
          <a:xfrm>
            <a:off x="5074920" y="3675888"/>
            <a:ext cx="66568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C4A5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{{PROPOSAL_SUBTITLE}}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0" y="5897880"/>
            <a:ext cx="7616952" cy="960120"/>
          </a:xfrm>
          <a:prstGeom prst="rect">
            <a:avLst/>
          </a:prstGeom>
          <a:solidFill>
            <a:srgbClr val="E0F4FA"/>
          </a:solidFill>
          <a:ln>
            <a:noFill/>
          </a:ln>
        </p:spPr>
      </p:sp>
      <p:sp>
        <p:nvSpPr>
          <p:cNvPr id="22" name="Shape 20"/>
          <p:cNvSpPr/>
          <p:nvPr/>
        </p:nvSpPr>
        <p:spPr>
          <a:xfrm>
            <a:off x="4572000" y="5897880"/>
            <a:ext cx="7616952" cy="45720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23" name="Text 21"/>
          <p:cNvSpPr/>
          <p:nvPr/>
        </p:nvSpPr>
        <p:spPr>
          <a:xfrm>
            <a:off x="5074920" y="5989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B9B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提案者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074920" y="6263640"/>
            <a:ext cx="66568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F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{{YOUR_COMPANY}}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BFD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6F8A"/>
          </a:solidFill>
          <a:ln>
            <a:noFill/>
          </a:ln>
        </p:spPr>
      </p:sp>
      <p:sp>
        <p:nvSpPr>
          <p:cNvPr id="4" name="Shap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457200" y="9144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AGENDA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6F8A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274320" y="6620256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Novagrid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183112" y="66202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9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5500116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5240">
            <a:solidFill>
              <a:srgbClr val="D8E8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435608"/>
            <a:ext cx="6583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1325880" y="1417320"/>
            <a:ext cx="36576" cy="713232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2" name="Text 10"/>
          <p:cNvSpPr/>
          <p:nvPr/>
        </p:nvSpPr>
        <p:spPr>
          <a:xfrm>
            <a:off x="1463040" y="1399032"/>
            <a:ext cx="43571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現状と課題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63040" y="1801368"/>
            <a:ext cx="43571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9B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お客様が直面している経営課題の整理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31636" y="1234440"/>
            <a:ext cx="5500116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5240">
            <a:solidFill>
              <a:srgbClr val="D8E8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68796" y="1435608"/>
            <a:ext cx="6583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7100316" y="1417320"/>
            <a:ext cx="36576" cy="713232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7237476" y="1399032"/>
            <a:ext cx="43571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ご提案の概要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237476" y="1801368"/>
            <a:ext cx="43571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9B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解決アプローチと期待できるビジネス成果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542032"/>
            <a:ext cx="5500116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5240">
            <a:solidFill>
              <a:srgbClr val="D8E8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743200"/>
            <a:ext cx="6583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1325880" y="2724912"/>
            <a:ext cx="36576" cy="713232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22" name="Text 20"/>
          <p:cNvSpPr/>
          <p:nvPr/>
        </p:nvSpPr>
        <p:spPr>
          <a:xfrm>
            <a:off x="1463040" y="2706624"/>
            <a:ext cx="43571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ソリューション詳細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3040" y="3108960"/>
            <a:ext cx="43571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9B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主要機能と業務変革効果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31636" y="2542032"/>
            <a:ext cx="5500116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5240">
            <a:solidFill>
              <a:srgbClr val="D8E8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68796" y="2743200"/>
            <a:ext cx="6583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7100316" y="2724912"/>
            <a:ext cx="36576" cy="713232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27" name="Text 25"/>
          <p:cNvSpPr/>
          <p:nvPr/>
        </p:nvSpPr>
        <p:spPr>
          <a:xfrm>
            <a:off x="7237476" y="2706624"/>
            <a:ext cx="43571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導入効果・KPI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237476" y="3108960"/>
            <a:ext cx="43571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9B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定量的な成果指標と試算根拠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849624"/>
            <a:ext cx="5500116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5240">
            <a:solidFill>
              <a:srgbClr val="D8E8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4050792"/>
            <a:ext cx="6583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2600" dirty="0"/>
          </a:p>
        </p:txBody>
      </p:sp>
      <p:sp>
        <p:nvSpPr>
          <p:cNvPr id="31" name="Shape 29"/>
          <p:cNvSpPr/>
          <p:nvPr/>
        </p:nvSpPr>
        <p:spPr>
          <a:xfrm>
            <a:off x="1325880" y="4032504"/>
            <a:ext cx="36576" cy="713232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32" name="Text 30"/>
          <p:cNvSpPr/>
          <p:nvPr/>
        </p:nvSpPr>
        <p:spPr>
          <a:xfrm>
            <a:off x="1463040" y="4014216"/>
            <a:ext cx="43571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導入ステップ・スケジュール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463040" y="4416552"/>
            <a:ext cx="43571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9B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実行計画とマイルストーン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31636" y="3849624"/>
            <a:ext cx="5500116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5240">
            <a:solidFill>
              <a:srgbClr val="D8E8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68796" y="4050792"/>
            <a:ext cx="6583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2600" dirty="0"/>
          </a:p>
        </p:txBody>
      </p:sp>
      <p:sp>
        <p:nvSpPr>
          <p:cNvPr id="36" name="Shape 34"/>
          <p:cNvSpPr/>
          <p:nvPr/>
        </p:nvSpPr>
        <p:spPr>
          <a:xfrm>
            <a:off x="7100316" y="4032504"/>
            <a:ext cx="36576" cy="713232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37" name="Text 35"/>
          <p:cNvSpPr/>
          <p:nvPr/>
        </p:nvSpPr>
        <p:spPr>
          <a:xfrm>
            <a:off x="7237476" y="4014216"/>
            <a:ext cx="43571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お見積り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237476" y="4416552"/>
            <a:ext cx="43571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9B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投資内訳と価格の妥当性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5157216"/>
            <a:ext cx="5500116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5240">
            <a:solidFill>
              <a:srgbClr val="D8E8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5358384"/>
            <a:ext cx="6583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2600" dirty="0"/>
          </a:p>
        </p:txBody>
      </p:sp>
      <p:sp>
        <p:nvSpPr>
          <p:cNvPr id="41" name="Shape 39"/>
          <p:cNvSpPr/>
          <p:nvPr/>
        </p:nvSpPr>
        <p:spPr>
          <a:xfrm>
            <a:off x="1325880" y="5340096"/>
            <a:ext cx="36576" cy="713232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42" name="Text 40"/>
          <p:cNvSpPr/>
          <p:nvPr/>
        </p:nvSpPr>
        <p:spPr>
          <a:xfrm>
            <a:off x="1463040" y="5321808"/>
            <a:ext cx="43571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次のアクション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63040" y="5724144"/>
            <a:ext cx="43571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9B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合意事項と意思決定フロー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BFD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6F8A"/>
          </a:solidFill>
          <a:ln>
            <a:noFill/>
          </a:ln>
        </p:spPr>
      </p:sp>
      <p:sp>
        <p:nvSpPr>
          <p:cNvPr id="4" name="Shap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457200" y="9144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   現状と課題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6F8A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274320" y="6620256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Novagrid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183112" y="66202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9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57200" y="1161288"/>
            <a:ext cx="112745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C4A5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{{CLIENT_NAME}}様が抱える3つの重要課題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1600200"/>
            <a:ext cx="3666744" cy="4663440"/>
          </a:xfrm>
          <a:prstGeom prst="rect">
            <a:avLst/>
          </a:prstGeom>
          <a:solidFill>
            <a:srgbClr val="FFFFFF"/>
          </a:solidFill>
          <a:ln w="15240">
            <a:solidFill>
              <a:srgbClr val="D8E8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00200"/>
            <a:ext cx="3666744" cy="201168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2" name="Text 10"/>
          <p:cNvSpPr/>
          <p:nvPr/>
        </p:nvSpPr>
        <p:spPr>
          <a:xfrm>
            <a:off x="594360" y="1892808"/>
            <a:ext cx="33924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 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2313432"/>
            <a:ext cx="3392424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{{CHALLENGE_1}}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06824" y="1600200"/>
            <a:ext cx="3666744" cy="4663440"/>
          </a:xfrm>
          <a:prstGeom prst="rect">
            <a:avLst/>
          </a:prstGeom>
          <a:solidFill>
            <a:srgbClr val="FFFFFF"/>
          </a:solidFill>
          <a:ln w="15240">
            <a:solidFill>
              <a:srgbClr val="D8E8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06824" y="1600200"/>
            <a:ext cx="3666744" cy="201168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6" name="Text 14"/>
          <p:cNvSpPr/>
          <p:nvPr/>
        </p:nvSpPr>
        <p:spPr>
          <a:xfrm>
            <a:off x="4443984" y="1892808"/>
            <a:ext cx="33924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 ②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43984" y="2313432"/>
            <a:ext cx="3392424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{{CHALLENGE_2}}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56448" y="1600200"/>
            <a:ext cx="3666744" cy="4663440"/>
          </a:xfrm>
          <a:prstGeom prst="rect">
            <a:avLst/>
          </a:prstGeom>
          <a:solidFill>
            <a:srgbClr val="FFFFFF"/>
          </a:solidFill>
          <a:ln w="15240">
            <a:solidFill>
              <a:srgbClr val="D8E8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56448" y="1600200"/>
            <a:ext cx="3666744" cy="201168"/>
          </a:xfrm>
          <a:prstGeom prst="rect">
            <a:avLst/>
          </a:prstGeom>
          <a:solidFill>
            <a:srgbClr val="006F8A"/>
          </a:solidFill>
          <a:ln>
            <a:noFill/>
          </a:ln>
        </p:spPr>
      </p:sp>
      <p:sp>
        <p:nvSpPr>
          <p:cNvPr id="20" name="Text 18"/>
          <p:cNvSpPr/>
          <p:nvPr/>
        </p:nvSpPr>
        <p:spPr>
          <a:xfrm>
            <a:off x="8293608" y="1892808"/>
            <a:ext cx="33924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F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 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93608" y="2313432"/>
            <a:ext cx="3392424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{{CHALLENGE_3}}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BFD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6F8A"/>
          </a:solidFill>
          <a:ln>
            <a:noFill/>
          </a:ln>
        </p:spPr>
      </p:sp>
      <p:sp>
        <p:nvSpPr>
          <p:cNvPr id="4" name="Shap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457200" y="9144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   ご提案の概要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6F8A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274320" y="6620256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Novagrid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183112" y="66202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9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74552" cy="1325880"/>
          </a:xfrm>
          <a:prstGeom prst="rect">
            <a:avLst/>
          </a:prstGeom>
          <a:solidFill>
            <a:srgbClr val="006F8A"/>
          </a:solidFill>
          <a:ln>
            <a:noFill/>
          </a:ln>
        </p:spPr>
      </p:sp>
      <p:sp>
        <p:nvSpPr>
          <p:cNvPr id="10" name="Shape 8"/>
          <p:cNvSpPr/>
          <p:nvPr/>
        </p:nvSpPr>
        <p:spPr>
          <a:xfrm>
            <a:off x="457200" y="1188720"/>
            <a:ext cx="137160" cy="1325880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713232" y="1261872"/>
            <a:ext cx="1090879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{{PROPOSAL_SUMMARY}}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7200" y="267919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F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 3 つの理由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666744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D8E8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3273552"/>
            <a:ext cx="694944" cy="694944"/>
          </a:xfrm>
          <a:prstGeom prst="ellipse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5" name="Text 13"/>
          <p:cNvSpPr/>
          <p:nvPr/>
        </p:nvSpPr>
        <p:spPr>
          <a:xfrm>
            <a:off x="1943100" y="3273552"/>
            <a:ext cx="69494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4069080"/>
            <a:ext cx="34838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差別化ポイント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66928" y="4434840"/>
            <a:ext cx="344728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{{KEY_POINT_1}}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06824" y="3108960"/>
            <a:ext cx="3666744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D8E8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92724" y="3273552"/>
            <a:ext cx="694944" cy="694944"/>
          </a:xfrm>
          <a:prstGeom prst="ellipse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20" name="Text 18"/>
          <p:cNvSpPr/>
          <p:nvPr/>
        </p:nvSpPr>
        <p:spPr>
          <a:xfrm>
            <a:off x="5792724" y="3273552"/>
            <a:ext cx="69494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📈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398264" y="4069080"/>
            <a:ext cx="34838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定量効果・ROI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16552" y="4434840"/>
            <a:ext cx="344728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{{KEY_POINT_2}}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6448" y="3108960"/>
            <a:ext cx="3666744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D8E8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42348" y="3273552"/>
            <a:ext cx="694944" cy="694944"/>
          </a:xfrm>
          <a:prstGeom prst="ellipse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25" name="Text 23"/>
          <p:cNvSpPr/>
          <p:nvPr/>
        </p:nvSpPr>
        <p:spPr>
          <a:xfrm>
            <a:off x="9642348" y="3273552"/>
            <a:ext cx="69494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🛡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247888" y="4069080"/>
            <a:ext cx="34838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リスク低減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266176" y="4434840"/>
            <a:ext cx="344728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{{KEY_POINT_3}}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BFD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6F8A"/>
          </a:solidFill>
          <a:ln>
            <a:noFill/>
          </a:ln>
        </p:spPr>
      </p:sp>
      <p:sp>
        <p:nvSpPr>
          <p:cNvPr id="4" name="Shap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457200" y="9144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  ソリューション詳細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6F8A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274320" y="6620256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Novagrid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183112" y="66202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9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500116" cy="2194560"/>
          </a:xfrm>
          <a:prstGeom prst="rect">
            <a:avLst/>
          </a:prstGeom>
          <a:solidFill>
            <a:srgbClr val="FFFFFF"/>
          </a:solidFill>
          <a:ln w="15240">
            <a:solidFill>
              <a:srgbClr val="D8E8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88720"/>
            <a:ext cx="438912" cy="2194560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457200" y="1188720"/>
            <a:ext cx="43891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05840" y="1325880"/>
            <a:ext cx="4814316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{{FEATURE_1}}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31636" y="1188720"/>
            <a:ext cx="5500116" cy="2194560"/>
          </a:xfrm>
          <a:prstGeom prst="rect">
            <a:avLst/>
          </a:prstGeom>
          <a:solidFill>
            <a:srgbClr val="FFFFFF"/>
          </a:solidFill>
          <a:ln w="15240">
            <a:solidFill>
              <a:srgbClr val="D8E8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31636" y="1188720"/>
            <a:ext cx="438912" cy="2194560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5" name="Text 13"/>
          <p:cNvSpPr/>
          <p:nvPr/>
        </p:nvSpPr>
        <p:spPr>
          <a:xfrm>
            <a:off x="6231636" y="1188720"/>
            <a:ext cx="43891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780276" y="1325880"/>
            <a:ext cx="4814316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{{FEATURE_2}}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5500116" cy="2194560"/>
          </a:xfrm>
          <a:prstGeom prst="rect">
            <a:avLst/>
          </a:prstGeom>
          <a:solidFill>
            <a:srgbClr val="FFFFFF"/>
          </a:solidFill>
          <a:ln w="15240">
            <a:solidFill>
              <a:srgbClr val="D8E8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566160"/>
            <a:ext cx="438912" cy="2194560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9" name="Text 17"/>
          <p:cNvSpPr/>
          <p:nvPr/>
        </p:nvSpPr>
        <p:spPr>
          <a:xfrm>
            <a:off x="457200" y="3566160"/>
            <a:ext cx="43891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05840" y="3703320"/>
            <a:ext cx="4814316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{{FEATURE_3}}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31636" y="3566160"/>
            <a:ext cx="5500116" cy="2194560"/>
          </a:xfrm>
          <a:prstGeom prst="rect">
            <a:avLst/>
          </a:prstGeom>
          <a:solidFill>
            <a:srgbClr val="FFFFFF"/>
          </a:solidFill>
          <a:ln w="15240">
            <a:solidFill>
              <a:srgbClr val="D8E8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31636" y="3566160"/>
            <a:ext cx="438912" cy="2194560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23" name="Text 21"/>
          <p:cNvSpPr/>
          <p:nvPr/>
        </p:nvSpPr>
        <p:spPr>
          <a:xfrm>
            <a:off x="6231636" y="3566160"/>
            <a:ext cx="43891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780276" y="3703320"/>
            <a:ext cx="4814316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{{FEATURE_4}}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F65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0098BB">
              <a:alpha val="15000"/>
            </a:srgbClr>
          </a:solidFill>
          <a:ln>
            <a:noFill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6F8A">
              <a:alpha val="70000"/>
            </a:srgbClr>
          </a:solidFill>
          <a:ln>
            <a:noFill/>
          </a:ln>
        </p:spPr>
      </p:sp>
      <p:sp>
        <p:nvSpPr>
          <p:cNvPr id="5" name="Shape 3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6" name="Text 4"/>
          <p:cNvSpPr/>
          <p:nvPr/>
        </p:nvSpPr>
        <p:spPr>
          <a:xfrm>
            <a:off x="457200" y="9144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   導入効果・期待 KPI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6F8A"/>
          </a:solidFill>
          <a:ln>
            <a:noFill/>
          </a:ln>
        </p:spPr>
      </p:sp>
      <p:sp>
        <p:nvSpPr>
          <p:cNvPr id="8" name="Text 6"/>
          <p:cNvSpPr/>
          <p:nvPr/>
        </p:nvSpPr>
        <p:spPr>
          <a:xfrm>
            <a:off x="274320" y="6620256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Novagrid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1183112" y="66202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9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1234440"/>
            <a:ext cx="3666744" cy="5029200"/>
          </a:xfrm>
          <a:prstGeom prst="rect">
            <a:avLst/>
          </a:prstGeom>
          <a:solidFill>
            <a:srgbClr val="FFFFFF">
              <a:alpha val="10000"/>
            </a:srgbClr>
          </a:solidFill>
          <a:ln w="22860">
            <a:solidFill>
              <a:srgbClr val="0098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34440"/>
            <a:ext cx="3666744" cy="164592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2" name="Text 10"/>
          <p:cNvSpPr/>
          <p:nvPr/>
        </p:nvSpPr>
        <p:spPr>
          <a:xfrm>
            <a:off x="566928" y="1490472"/>
            <a:ext cx="3447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{{KPI_LABEL_1}}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148840"/>
            <a:ext cx="35204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{{KPI_VALUE_1}}</a:t>
            </a:r>
            <a:endParaRPr lang="en-US" sz="7000" dirty="0"/>
          </a:p>
        </p:txBody>
      </p:sp>
      <p:sp>
        <p:nvSpPr>
          <p:cNvPr id="14" name="Text 12"/>
          <p:cNvSpPr/>
          <p:nvPr/>
        </p:nvSpPr>
        <p:spPr>
          <a:xfrm>
            <a:off x="530352" y="3886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{{KPI_UNIT_1}}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117214" y="4453128"/>
            <a:ext cx="2346716" cy="36576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6" name="Text 14"/>
          <p:cNvSpPr/>
          <p:nvPr/>
        </p:nvSpPr>
        <p:spPr>
          <a:xfrm>
            <a:off x="566928" y="4599432"/>
            <a:ext cx="344728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B0CD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{{KPI_NOTE_1}}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306824" y="1234440"/>
            <a:ext cx="3666744" cy="5029200"/>
          </a:xfrm>
          <a:prstGeom prst="rect">
            <a:avLst/>
          </a:prstGeom>
          <a:solidFill>
            <a:srgbClr val="FFFFFF">
              <a:alpha val="10000"/>
            </a:srgbClr>
          </a:solidFill>
          <a:ln w="22860">
            <a:solidFill>
              <a:srgbClr val="0098B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06824" y="1234440"/>
            <a:ext cx="3666744" cy="164592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9" name="Text 17"/>
          <p:cNvSpPr/>
          <p:nvPr/>
        </p:nvSpPr>
        <p:spPr>
          <a:xfrm>
            <a:off x="4416552" y="1490472"/>
            <a:ext cx="3447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{{KPI_LABEL_2}}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79976" y="2148840"/>
            <a:ext cx="35204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{{KPI_VALUE_2}}</a:t>
            </a:r>
            <a:endParaRPr lang="en-US" sz="7000" dirty="0"/>
          </a:p>
        </p:txBody>
      </p:sp>
      <p:sp>
        <p:nvSpPr>
          <p:cNvPr id="21" name="Text 19"/>
          <p:cNvSpPr/>
          <p:nvPr/>
        </p:nvSpPr>
        <p:spPr>
          <a:xfrm>
            <a:off x="4379976" y="3886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{{KPI_UNIT_2}}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966838" y="4453128"/>
            <a:ext cx="2346716" cy="36576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23" name="Text 21"/>
          <p:cNvSpPr/>
          <p:nvPr/>
        </p:nvSpPr>
        <p:spPr>
          <a:xfrm>
            <a:off x="4416552" y="4599432"/>
            <a:ext cx="344728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B0CD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{{KPI_NOTE_2}}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156448" y="1234440"/>
            <a:ext cx="3666744" cy="5029200"/>
          </a:xfrm>
          <a:prstGeom prst="rect">
            <a:avLst/>
          </a:prstGeom>
          <a:solidFill>
            <a:srgbClr val="FFFFFF">
              <a:alpha val="10000"/>
            </a:srgbClr>
          </a:solidFill>
          <a:ln w="22860">
            <a:solidFill>
              <a:srgbClr val="0098B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6448" y="1234440"/>
            <a:ext cx="3666744" cy="164592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26" name="Text 24"/>
          <p:cNvSpPr/>
          <p:nvPr/>
        </p:nvSpPr>
        <p:spPr>
          <a:xfrm>
            <a:off x="8266176" y="1490472"/>
            <a:ext cx="3447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{{KPI_LABEL_3}}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0" y="2148840"/>
            <a:ext cx="35204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{{KPI_VALUE_3}}</a:t>
            </a:r>
            <a:endParaRPr lang="en-US" sz="7000" dirty="0"/>
          </a:p>
        </p:txBody>
      </p:sp>
      <p:sp>
        <p:nvSpPr>
          <p:cNvPr id="28" name="Text 26"/>
          <p:cNvSpPr/>
          <p:nvPr/>
        </p:nvSpPr>
        <p:spPr>
          <a:xfrm>
            <a:off x="8229600" y="3886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{{KPI_UNIT_3}}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816462" y="4453128"/>
            <a:ext cx="2346716" cy="36576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30" name="Text 28"/>
          <p:cNvSpPr/>
          <p:nvPr/>
        </p:nvSpPr>
        <p:spPr>
          <a:xfrm>
            <a:off x="8266176" y="4599432"/>
            <a:ext cx="344728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B0CD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{{KPI_NOTE_3}}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BFD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6F8A"/>
          </a:solidFill>
          <a:ln>
            <a:noFill/>
          </a:ln>
        </p:spPr>
      </p:sp>
      <p:sp>
        <p:nvSpPr>
          <p:cNvPr id="4" name="Shap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457200" y="9144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  導入ステップ・スケジュール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6F8A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274320" y="6620256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Novagrid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183112" y="66202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9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234440" y="2450592"/>
            <a:ext cx="9720072" cy="64008"/>
          </a:xfrm>
          <a:prstGeom prst="rect">
            <a:avLst/>
          </a:prstGeom>
          <a:solidFill>
            <a:srgbClr val="D8E8EC"/>
          </a:solidFill>
          <a:ln>
            <a:noFill/>
          </a:ln>
        </p:spPr>
      </p:sp>
      <p:sp>
        <p:nvSpPr>
          <p:cNvPr id="10" name="Shape 8"/>
          <p:cNvSpPr/>
          <p:nvPr/>
        </p:nvSpPr>
        <p:spPr>
          <a:xfrm>
            <a:off x="640080" y="1207008"/>
            <a:ext cx="2727198" cy="402336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640080" y="1207008"/>
            <a:ext cx="272719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{{STEP_1_PERIOD}}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656207" y="2148840"/>
            <a:ext cx="694944" cy="69494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98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656207" y="2148840"/>
            <a:ext cx="69494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40080" y="3017520"/>
            <a:ext cx="2727198" cy="658368"/>
          </a:xfrm>
          <a:prstGeom prst="rect">
            <a:avLst/>
          </a:prstGeom>
          <a:solidFill>
            <a:srgbClr val="FFFFFF"/>
          </a:solidFill>
          <a:ln w="15240">
            <a:solidFill>
              <a:srgbClr val="0098B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044952"/>
            <a:ext cx="258089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F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{{STEP_1_TITLE}}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13232" y="3767328"/>
            <a:ext cx="2580894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2C4A5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{{STEP_1_DESC}}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486150" y="1207008"/>
            <a:ext cx="2727198" cy="402336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8" name="Text 16"/>
          <p:cNvSpPr/>
          <p:nvPr/>
        </p:nvSpPr>
        <p:spPr>
          <a:xfrm>
            <a:off x="3486150" y="1207008"/>
            <a:ext cx="272719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{{STEP_2_PERIOD}}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02277" y="2148840"/>
            <a:ext cx="694944" cy="69494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98B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2277" y="2148840"/>
            <a:ext cx="69494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3486150" y="3017520"/>
            <a:ext cx="2727198" cy="658368"/>
          </a:xfrm>
          <a:prstGeom prst="rect">
            <a:avLst/>
          </a:prstGeom>
          <a:solidFill>
            <a:srgbClr val="FFFFFF"/>
          </a:solidFill>
          <a:ln w="15240">
            <a:solidFill>
              <a:srgbClr val="0098B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59302" y="3044952"/>
            <a:ext cx="258089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F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{{STEP_2_TITLE}}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559302" y="3767328"/>
            <a:ext cx="2580894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2C4A5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{{STEP_2_DESC}}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32220" y="1207008"/>
            <a:ext cx="2727198" cy="402336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25" name="Text 23"/>
          <p:cNvSpPr/>
          <p:nvPr/>
        </p:nvSpPr>
        <p:spPr>
          <a:xfrm>
            <a:off x="6332220" y="1207008"/>
            <a:ext cx="272719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{{STEP_3_PERIOD}}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348347" y="2148840"/>
            <a:ext cx="694944" cy="69494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98B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48347" y="2148840"/>
            <a:ext cx="69494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28" name="Shape 26"/>
          <p:cNvSpPr/>
          <p:nvPr/>
        </p:nvSpPr>
        <p:spPr>
          <a:xfrm>
            <a:off x="6332220" y="3017520"/>
            <a:ext cx="2727198" cy="658368"/>
          </a:xfrm>
          <a:prstGeom prst="rect">
            <a:avLst/>
          </a:prstGeom>
          <a:solidFill>
            <a:srgbClr val="FFFFFF"/>
          </a:solidFill>
          <a:ln w="15240">
            <a:solidFill>
              <a:srgbClr val="0098B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5372" y="3044952"/>
            <a:ext cx="258089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F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{{STEP_3_TITLE}}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405372" y="3767328"/>
            <a:ext cx="2580894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2C4A5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{{STEP_3_DESC}}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178290" y="1207008"/>
            <a:ext cx="2727198" cy="402336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32" name="Text 30"/>
          <p:cNvSpPr/>
          <p:nvPr/>
        </p:nvSpPr>
        <p:spPr>
          <a:xfrm>
            <a:off x="9178290" y="1207008"/>
            <a:ext cx="272719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{{STEP_4_PERIOD}}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194417" y="2148840"/>
            <a:ext cx="694944" cy="69494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98B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194417" y="2148840"/>
            <a:ext cx="69494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35" name="Shape 33"/>
          <p:cNvSpPr/>
          <p:nvPr/>
        </p:nvSpPr>
        <p:spPr>
          <a:xfrm>
            <a:off x="9178290" y="3017520"/>
            <a:ext cx="2727198" cy="658368"/>
          </a:xfrm>
          <a:prstGeom prst="rect">
            <a:avLst/>
          </a:prstGeom>
          <a:solidFill>
            <a:srgbClr val="FFFFFF"/>
          </a:solidFill>
          <a:ln w="15240">
            <a:solidFill>
              <a:srgbClr val="0098B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251442" y="3044952"/>
            <a:ext cx="258089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F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{{STEP_4_TITLE}}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251442" y="3767328"/>
            <a:ext cx="2580894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2C4A5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{{STEP_4_DESC}}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BFD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6F8A"/>
          </a:solidFill>
          <a:ln>
            <a:noFill/>
          </a:ln>
        </p:spPr>
      </p:sp>
      <p:sp>
        <p:nvSpPr>
          <p:cNvPr id="4" name="Shap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457200" y="9144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  お見積り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6F8A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274320" y="6620256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Novagrid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183112" y="66202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9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57200" y="1207008"/>
            <a:ext cx="11274552" cy="475488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0" name="Text 8"/>
          <p:cNvSpPr/>
          <p:nvPr/>
        </p:nvSpPr>
        <p:spPr>
          <a:xfrm>
            <a:off x="457200" y="1234440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費用項目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108960" y="1234440"/>
            <a:ext cx="3291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内容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0" y="1234440"/>
            <a:ext cx="822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数量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223760" y="123444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052560" y="1234440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金額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1682496"/>
            <a:ext cx="11274552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E8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" y="1728216"/>
            <a:ext cx="2542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{{ITEM_1}}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63824" y="1728216"/>
            <a:ext cx="31821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{{DESC_1}}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55664" y="1728216"/>
            <a:ext cx="7132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{{QTY_1}}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278624" y="1728216"/>
            <a:ext cx="1719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{{PRICE_1}}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07424" y="1728216"/>
            <a:ext cx="18105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{{TOTAL_1}}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340864"/>
            <a:ext cx="11274552" cy="640080"/>
          </a:xfrm>
          <a:prstGeom prst="rect">
            <a:avLst/>
          </a:prstGeom>
          <a:solidFill>
            <a:srgbClr val="E0F4FA"/>
          </a:solidFill>
          <a:ln w="10160">
            <a:solidFill>
              <a:srgbClr val="D8E8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2064" y="2386584"/>
            <a:ext cx="2542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{{ITEM_2}}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63824" y="2386584"/>
            <a:ext cx="31821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{{DESC_2}}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55664" y="2386584"/>
            <a:ext cx="7132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{{QTY_2}}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278624" y="2386584"/>
            <a:ext cx="1719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{{PRICE_2}}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07424" y="2386584"/>
            <a:ext cx="18105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{{TOTAL_2}}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999232"/>
            <a:ext cx="11274552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E8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2064" y="3044952"/>
            <a:ext cx="2542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{{ITEM_3}}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163824" y="3044952"/>
            <a:ext cx="31821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{{DESC_3}}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55664" y="3044952"/>
            <a:ext cx="7132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{{QTY_3}}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278624" y="3044952"/>
            <a:ext cx="1719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{{PRICE_3}}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07424" y="3044952"/>
            <a:ext cx="18105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{{TOTAL_3}}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11274552" cy="640080"/>
          </a:xfrm>
          <a:prstGeom prst="rect">
            <a:avLst/>
          </a:prstGeom>
          <a:solidFill>
            <a:srgbClr val="E0F4FA"/>
          </a:solidFill>
          <a:ln w="10160">
            <a:solidFill>
              <a:srgbClr val="D8E8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2064" y="3703320"/>
            <a:ext cx="2542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{{ITEM_4}}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163824" y="3703320"/>
            <a:ext cx="31821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{{DESC_4}}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55664" y="3703320"/>
            <a:ext cx="7132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{{QTY_4}}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278624" y="3703320"/>
            <a:ext cx="1719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{{PRICE_4}}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107424" y="3703320"/>
            <a:ext cx="18105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{{TOTAL_4}}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" y="4315968"/>
            <a:ext cx="11274552" cy="566928"/>
          </a:xfrm>
          <a:prstGeom prst="rect">
            <a:avLst/>
          </a:prstGeom>
          <a:solidFill>
            <a:srgbClr val="006F8A"/>
          </a:solidFill>
          <a:ln>
            <a:noFill/>
          </a:ln>
        </p:spPr>
      </p:sp>
      <p:sp>
        <p:nvSpPr>
          <p:cNvPr id="40" name="Text 38"/>
          <p:cNvSpPr/>
          <p:nvPr/>
        </p:nvSpPr>
        <p:spPr>
          <a:xfrm>
            <a:off x="594360" y="43708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合計（税抜）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714232" y="437083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098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{{GRAND_TOTAL}}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" y="4974336"/>
            <a:ext cx="112745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B9B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{{PRICING_NOTE}}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BFD"/>
          </a:solidFill>
          <a:ln>
            <a:noFill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6F8A"/>
          </a:solidFill>
          <a:ln>
            <a:noFill/>
          </a:ln>
        </p:spPr>
      </p:sp>
      <p:sp>
        <p:nvSpPr>
          <p:cNvPr id="4" name="Shape 2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457200" y="9144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   次のアクション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06F8A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274320" y="6620256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Novagrid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183112" y="66202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9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2103120" cy="1234440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0" name="Text 8"/>
          <p:cNvSpPr/>
          <p:nvPr/>
        </p:nvSpPr>
        <p:spPr>
          <a:xfrm>
            <a:off x="457200" y="1325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期限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618488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{{ACTION_1_DATE}}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697480" y="1234440"/>
            <a:ext cx="9034272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98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16352" y="1627632"/>
            <a:ext cx="475488" cy="475488"/>
          </a:xfrm>
          <a:prstGeom prst="ellipse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4" name="Text 12"/>
          <p:cNvSpPr/>
          <p:nvPr/>
        </p:nvSpPr>
        <p:spPr>
          <a:xfrm>
            <a:off x="2816352" y="162763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936" dirty="0"/>
          </a:p>
        </p:txBody>
      </p:sp>
      <p:sp>
        <p:nvSpPr>
          <p:cNvPr id="15" name="Text 13"/>
          <p:cNvSpPr/>
          <p:nvPr/>
        </p:nvSpPr>
        <p:spPr>
          <a:xfrm>
            <a:off x="3401568" y="1325880"/>
            <a:ext cx="830275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{{ACTION_1}}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2103120" cy="1234440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457200" y="2788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3081528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{{ACTION_2_DATE}}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697480" y="2697480"/>
            <a:ext cx="9034272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98B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16352" y="3090672"/>
            <a:ext cx="475488" cy="475488"/>
          </a:xfrm>
          <a:prstGeom prst="ellipse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21" name="Text 19"/>
          <p:cNvSpPr/>
          <p:nvPr/>
        </p:nvSpPr>
        <p:spPr>
          <a:xfrm>
            <a:off x="2816352" y="30906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936" dirty="0"/>
          </a:p>
        </p:txBody>
      </p:sp>
      <p:sp>
        <p:nvSpPr>
          <p:cNvPr id="22" name="Text 20"/>
          <p:cNvSpPr/>
          <p:nvPr/>
        </p:nvSpPr>
        <p:spPr>
          <a:xfrm>
            <a:off x="3401568" y="2788920"/>
            <a:ext cx="830275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{{ACTION_2}}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57200" y="4160520"/>
            <a:ext cx="2103120" cy="1234440"/>
          </a:xfrm>
          <a:prstGeom prst="rect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24" name="Text 22"/>
          <p:cNvSpPr/>
          <p:nvPr/>
        </p:nvSpPr>
        <p:spPr>
          <a:xfrm>
            <a:off x="457200" y="42519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ADD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544568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{{ACTION_3_DATE}}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2697480" y="4160520"/>
            <a:ext cx="9034272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98B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16352" y="4553712"/>
            <a:ext cx="475488" cy="475488"/>
          </a:xfrm>
          <a:prstGeom prst="ellipse">
            <a:avLst/>
          </a:prstGeom>
          <a:solidFill>
            <a:srgbClr val="0098BB"/>
          </a:solidFill>
          <a:ln>
            <a:noFill/>
          </a:ln>
        </p:spPr>
      </p:sp>
      <p:sp>
        <p:nvSpPr>
          <p:cNvPr id="28" name="Text 26"/>
          <p:cNvSpPr/>
          <p:nvPr/>
        </p:nvSpPr>
        <p:spPr>
          <a:xfrm>
            <a:off x="2816352" y="45537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936" dirty="0"/>
          </a:p>
        </p:txBody>
      </p:sp>
      <p:sp>
        <p:nvSpPr>
          <p:cNvPr id="29" name="Text 27"/>
          <p:cNvSpPr/>
          <p:nvPr/>
        </p:nvSpPr>
        <p:spPr>
          <a:xfrm>
            <a:off x="3401568" y="4251960"/>
            <a:ext cx="830275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A2E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{{ACTION_3}}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457200" y="5669280"/>
            <a:ext cx="11274552" cy="621792"/>
          </a:xfrm>
          <a:prstGeom prst="rect">
            <a:avLst/>
          </a:prstGeom>
          <a:solidFill>
            <a:srgbClr val="E0F4FA"/>
          </a:solidFill>
          <a:ln w="12700">
            <a:solidFill>
              <a:srgbClr val="0098B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5705856"/>
            <a:ext cx="110002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6F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ご質問・ご不明点は担当 {{YOUR_COMPANY}} までお気軽にお申し付けください。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Novagrid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Novagrid</dc:creator>
  <cp:lastModifiedBy>Novagrid</cp:lastModifiedBy>
  <cp:revision>1</cp:revision>
  <dcterms:created xsi:type="dcterms:W3CDTF">2026-05-29T04:12:12Z</dcterms:created>
  <dcterms:modified xsi:type="dcterms:W3CDTF">2026-05-29T04:12:12Z</dcterms:modified>
</cp:coreProperties>
</file>